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5k</c:v>
                </c:pt>
                <c:pt idx="1">
                  <c:v>10k</c:v>
                </c:pt>
                <c:pt idx="2">
                  <c:v>15k</c:v>
                </c:pt>
                <c:pt idx="3">
                  <c:v>20k</c:v>
                </c:pt>
                <c:pt idx="4">
                  <c:v>25k</c:v>
                </c:pt>
                <c:pt idx="5">
                  <c:v>30k</c:v>
                </c:pt>
                <c:pt idx="6">
                  <c:v>35k</c:v>
                </c:pt>
                <c:pt idx="7">
                  <c:v>40k</c:v>
                </c:pt>
                <c:pt idx="8">
                  <c:v>50k</c:v>
                </c:pt>
                <c:pt idx="9">
                  <c:v>60k</c:v>
                </c:pt>
                <c:pt idx="10">
                  <c:v>70k</c:v>
                </c:pt>
                <c:pt idx="11">
                  <c:v>80k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</c:v>
                </c:pt>
                <c:pt idx="1">
                  <c:v>76</c:v>
                </c:pt>
                <c:pt idx="2">
                  <c:v>52</c:v>
                </c:pt>
                <c:pt idx="3">
                  <c:v>38</c:v>
                </c:pt>
                <c:pt idx="4">
                  <c:v>24</c:v>
                </c:pt>
                <c:pt idx="5">
                  <c:v>18</c:v>
                </c:pt>
                <c:pt idx="6">
                  <c:v>12</c:v>
                </c:pt>
                <c:pt idx="7">
                  <c:v>9</c:v>
                </c:pt>
                <c:pt idx="8">
                  <c:v>6</c:v>
                </c:pt>
                <c:pt idx="9">
                  <c:v>4</c:v>
                </c:pt>
                <c:pt idx="10">
                  <c:v>3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0-4406-B6B3-87F891C25A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7.0</c:v>
                </c:pt>
                <c:pt idx="1">
                  <c:v>7.5</c:v>
                </c:pt>
                <c:pt idx="2">
                  <c:v>8.0</c:v>
                </c:pt>
                <c:pt idx="3">
                  <c:v>8.5</c:v>
                </c:pt>
                <c:pt idx="4">
                  <c:v>9.0</c:v>
                </c:pt>
                <c:pt idx="5">
                  <c:v>9.5</c:v>
                </c:pt>
                <c:pt idx="6">
                  <c:v>10.0</c:v>
                </c:pt>
                <c:pt idx="7">
                  <c:v>10.5</c:v>
                </c:pt>
                <c:pt idx="8">
                  <c:v>11.0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4</c:v>
                </c:pt>
                <c:pt idx="2">
                  <c:v>9</c:v>
                </c:pt>
                <c:pt idx="3">
                  <c:v>22</c:v>
                </c:pt>
                <c:pt idx="4">
                  <c:v>38</c:v>
                </c:pt>
                <c:pt idx="5">
                  <c:v>40</c:v>
                </c:pt>
                <c:pt idx="6">
                  <c:v>33</c:v>
                </c:pt>
                <c:pt idx="7">
                  <c:v>18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8-461A-8CA4-ED448C20D1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price (Rs)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Apple</c:v>
                </c:pt>
                <c:pt idx="1">
                  <c:v>Google</c:v>
                </c:pt>
                <c:pt idx="2">
                  <c:v>iQOO</c:v>
                </c:pt>
                <c:pt idx="3">
                  <c:v>Nothing</c:v>
                </c:pt>
                <c:pt idx="4">
                  <c:v>OnePlus</c:v>
                </c:pt>
                <c:pt idx="5">
                  <c:v>Vivo</c:v>
                </c:pt>
                <c:pt idx="6">
                  <c:v>Samsung</c:v>
                </c:pt>
                <c:pt idx="7">
                  <c:v>Redmi</c:v>
                </c:pt>
                <c:pt idx="8">
                  <c:v>Poco</c:v>
                </c:pt>
                <c:pt idx="9">
                  <c:v>Oppo</c:v>
                </c:pt>
                <c:pt idx="10">
                  <c:v>Motorola</c:v>
                </c:pt>
                <c:pt idx="11">
                  <c:v>Realme</c:v>
                </c:pt>
                <c:pt idx="12">
                  <c:v>Infinix</c:v>
                </c:pt>
                <c:pt idx="13">
                  <c:v>Tecno</c:v>
                </c:pt>
                <c:pt idx="14">
                  <c:v>Lava</c:v>
                </c:pt>
                <c:pt idx="15">
                  <c:v>Nokia</c:v>
                </c:pt>
                <c:pt idx="16">
                  <c:v>Micromax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62000</c:v>
                </c:pt>
                <c:pt idx="1">
                  <c:v>48000</c:v>
                </c:pt>
                <c:pt idx="2">
                  <c:v>32000</c:v>
                </c:pt>
                <c:pt idx="3">
                  <c:v>30000</c:v>
                </c:pt>
                <c:pt idx="4">
                  <c:v>29000</c:v>
                </c:pt>
                <c:pt idx="5">
                  <c:v>19000</c:v>
                </c:pt>
                <c:pt idx="6">
                  <c:v>18500</c:v>
                </c:pt>
                <c:pt idx="7">
                  <c:v>16000</c:v>
                </c:pt>
                <c:pt idx="8">
                  <c:v>15500</c:v>
                </c:pt>
                <c:pt idx="9">
                  <c:v>15000</c:v>
                </c:pt>
                <c:pt idx="10">
                  <c:v>14500</c:v>
                </c:pt>
                <c:pt idx="11">
                  <c:v>14000</c:v>
                </c:pt>
                <c:pt idx="12">
                  <c:v>11000</c:v>
                </c:pt>
                <c:pt idx="13">
                  <c:v>9000</c:v>
                </c:pt>
                <c:pt idx="14">
                  <c:v>7000</c:v>
                </c:pt>
                <c:pt idx="15">
                  <c:v>6500</c:v>
                </c:pt>
                <c:pt idx="16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14-4767-AFE2-B0E4A8150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900" b="0" i="0" u="none" strike="noStrike">
                <a:solidFill>
                  <a:srgbClr val="0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A (specs)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Tree</c:v>
                </c:pt>
                <c:pt idx="2">
                  <c:v>Forest</c:v>
                </c:pt>
                <c:pt idx="3">
                  <c:v>GBM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0.51500000000000001</c:v>
                </c:pt>
                <c:pt idx="1">
                  <c:v>0.7</c:v>
                </c:pt>
                <c:pt idx="2">
                  <c:v>0.76200000000000001</c:v>
                </c:pt>
                <c:pt idx="3">
                  <c:v>0.79700000000000004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12-4BB5-9294-73F5D7C0DB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B (+identity)</c:v>
                </c:pt>
              </c:strCache>
            </c:strRef>
          </c:tx>
          <c:spPr>
            <a:solidFill>
              <a:srgbClr val="0B1F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Tree</c:v>
                </c:pt>
                <c:pt idx="2">
                  <c:v>Forest</c:v>
                </c:pt>
                <c:pt idx="3">
                  <c:v>GBM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0.55700000000000005</c:v>
                </c:pt>
                <c:pt idx="1">
                  <c:v>0.84</c:v>
                </c:pt>
                <c:pt idx="2">
                  <c:v>0.64800000000000002</c:v>
                </c:pt>
                <c:pt idx="3">
                  <c:v>0.67300000000000004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12-4BB5-9294-73F5D7C0D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4F8FA0"/>
              </a:solidFill>
              <a:ln w="9525" cap="flat">
                <a:solidFill>
                  <a:srgbClr val="4F8FA0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920</c:v>
                </c:pt>
                <c:pt idx="1">
                  <c:v>3000</c:v>
                </c:pt>
                <c:pt idx="2">
                  <c:v>5000</c:v>
                </c:pt>
                <c:pt idx="3">
                  <c:v>7000</c:v>
                </c:pt>
                <c:pt idx="4">
                  <c:v>9000</c:v>
                </c:pt>
                <c:pt idx="5">
                  <c:v>11000</c:v>
                </c:pt>
                <c:pt idx="6">
                  <c:v>12000</c:v>
                </c:pt>
                <c:pt idx="7">
                  <c:v>13000</c:v>
                </c:pt>
                <c:pt idx="8">
                  <c:v>14000</c:v>
                </c:pt>
                <c:pt idx="9">
                  <c:v>15000</c:v>
                </c:pt>
                <c:pt idx="10">
                  <c:v>16000</c:v>
                </c:pt>
                <c:pt idx="11">
                  <c:v>18000</c:v>
                </c:pt>
                <c:pt idx="12">
                  <c:v>20000</c:v>
                </c:pt>
                <c:pt idx="13">
                  <c:v>22000</c:v>
                </c:pt>
                <c:pt idx="14">
                  <c:v>24000</c:v>
                </c:pt>
                <c:pt idx="15">
                  <c:v>26000</c:v>
                </c:pt>
                <c:pt idx="16">
                  <c:v>28000</c:v>
                </c:pt>
                <c:pt idx="17">
                  <c:v>30000</c:v>
                </c:pt>
                <c:pt idx="18">
                  <c:v>49000</c:v>
                </c:pt>
                <c:pt idx="19">
                  <c:v>80999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1500</c:v>
                </c:pt>
                <c:pt idx="1">
                  <c:v>3400</c:v>
                </c:pt>
                <c:pt idx="2">
                  <c:v>5300</c:v>
                </c:pt>
                <c:pt idx="3">
                  <c:v>6800</c:v>
                </c:pt>
                <c:pt idx="4">
                  <c:v>9500</c:v>
                </c:pt>
                <c:pt idx="5">
                  <c:v>10800</c:v>
                </c:pt>
                <c:pt idx="6">
                  <c:v>12500</c:v>
                </c:pt>
                <c:pt idx="7">
                  <c:v>12700</c:v>
                </c:pt>
                <c:pt idx="8">
                  <c:v>14500</c:v>
                </c:pt>
                <c:pt idx="9">
                  <c:v>15200</c:v>
                </c:pt>
                <c:pt idx="10">
                  <c:v>15800</c:v>
                </c:pt>
                <c:pt idx="11">
                  <c:v>18600</c:v>
                </c:pt>
                <c:pt idx="12">
                  <c:v>19700</c:v>
                </c:pt>
                <c:pt idx="13">
                  <c:v>22800</c:v>
                </c:pt>
                <c:pt idx="14">
                  <c:v>23500</c:v>
                </c:pt>
                <c:pt idx="15">
                  <c:v>24800</c:v>
                </c:pt>
                <c:pt idx="16">
                  <c:v>40000</c:v>
                </c:pt>
                <c:pt idx="17">
                  <c:v>30000</c:v>
                </c:pt>
                <c:pt idx="18">
                  <c:v>30500</c:v>
                </c:pt>
                <c:pt idx="19">
                  <c:v>27000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6C-40F7-8199-B8B8EC003B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(y=x)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4F8FA0"/>
              </a:solidFill>
              <a:ln w="9525" cap="flat">
                <a:solidFill>
                  <a:srgbClr val="4F8FA0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920</c:v>
                </c:pt>
                <c:pt idx="1">
                  <c:v>3000</c:v>
                </c:pt>
                <c:pt idx="2">
                  <c:v>5000</c:v>
                </c:pt>
                <c:pt idx="3">
                  <c:v>7000</c:v>
                </c:pt>
                <c:pt idx="4">
                  <c:v>9000</c:v>
                </c:pt>
                <c:pt idx="5">
                  <c:v>11000</c:v>
                </c:pt>
                <c:pt idx="6">
                  <c:v>12000</c:v>
                </c:pt>
                <c:pt idx="7">
                  <c:v>13000</c:v>
                </c:pt>
                <c:pt idx="8">
                  <c:v>14000</c:v>
                </c:pt>
                <c:pt idx="9">
                  <c:v>15000</c:v>
                </c:pt>
                <c:pt idx="10">
                  <c:v>16000</c:v>
                </c:pt>
                <c:pt idx="11">
                  <c:v>18000</c:v>
                </c:pt>
                <c:pt idx="12">
                  <c:v>20000</c:v>
                </c:pt>
                <c:pt idx="13">
                  <c:v>22000</c:v>
                </c:pt>
                <c:pt idx="14">
                  <c:v>24000</c:v>
                </c:pt>
                <c:pt idx="15">
                  <c:v>26000</c:v>
                </c:pt>
                <c:pt idx="16">
                  <c:v>28000</c:v>
                </c:pt>
                <c:pt idx="17">
                  <c:v>30000</c:v>
                </c:pt>
                <c:pt idx="18">
                  <c:v>49000</c:v>
                </c:pt>
                <c:pt idx="19">
                  <c:v>80999</c:v>
                </c:pt>
              </c:numCache>
            </c:numRef>
          </c:xVal>
          <c:yVal>
            <c:numRef>
              <c:f>Sheet1!$C$2:$C$21</c:f>
              <c:numCache>
                <c:formatCode>General</c:formatCode>
                <c:ptCount val="20"/>
                <c:pt idx="0">
                  <c:v>920</c:v>
                </c:pt>
                <c:pt idx="1">
                  <c:v>3000</c:v>
                </c:pt>
                <c:pt idx="2">
                  <c:v>5000</c:v>
                </c:pt>
                <c:pt idx="3">
                  <c:v>7000</c:v>
                </c:pt>
                <c:pt idx="4">
                  <c:v>9000</c:v>
                </c:pt>
                <c:pt idx="5">
                  <c:v>11000</c:v>
                </c:pt>
                <c:pt idx="6">
                  <c:v>12000</c:v>
                </c:pt>
                <c:pt idx="7">
                  <c:v>13000</c:v>
                </c:pt>
                <c:pt idx="8">
                  <c:v>14000</c:v>
                </c:pt>
                <c:pt idx="9">
                  <c:v>15000</c:v>
                </c:pt>
                <c:pt idx="10">
                  <c:v>16000</c:v>
                </c:pt>
                <c:pt idx="11">
                  <c:v>18000</c:v>
                </c:pt>
                <c:pt idx="12">
                  <c:v>20000</c:v>
                </c:pt>
                <c:pt idx="13">
                  <c:v>22000</c:v>
                </c:pt>
                <c:pt idx="14">
                  <c:v>24000</c:v>
                </c:pt>
                <c:pt idx="15">
                  <c:v>26000</c:v>
                </c:pt>
                <c:pt idx="16">
                  <c:v>28000</c:v>
                </c:pt>
                <c:pt idx="17">
                  <c:v>30000</c:v>
                </c:pt>
                <c:pt idx="18">
                  <c:v>49000</c:v>
                </c:pt>
                <c:pt idx="19">
                  <c:v>80999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16C-40F7-8199-B8B8EC003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079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5B7079"/>
                    </a:solidFill>
                    <a:latin typeface="Arial"/>
                  </a:rPr>
                  <a:t>Actual (Rs)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4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079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5B7079"/>
                    </a:solidFill>
                    <a:latin typeface="Arial"/>
                  </a:rPr>
                  <a:t>Predicted (Rs)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importance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Front_MP</c:v>
                </c:pt>
                <c:pt idx="1">
                  <c:v>B_GOOGLE</c:v>
                </c:pt>
                <c:pt idx="2">
                  <c:v>Battery_</c:v>
                </c:pt>
                <c:pt idx="3">
                  <c:v>Memory</c:v>
                </c:pt>
                <c:pt idx="4">
                  <c:v>Mobile Height</c:v>
                </c:pt>
                <c:pt idx="5">
                  <c:v>Rear_MP</c:v>
                </c:pt>
                <c:pt idx="6">
                  <c:v>RAM</c:v>
                </c:pt>
                <c:pt idx="7">
                  <c:v>B_INFINIX</c:v>
                </c:pt>
                <c:pt idx="8">
                  <c:v>B_SAMSUNG</c:v>
                </c:pt>
                <c:pt idx="9">
                  <c:v>B_REALME</c:v>
                </c:pt>
                <c:pt idx="10">
                  <c:v>B_REDMI</c:v>
                </c:pt>
                <c:pt idx="11">
                  <c:v>B_VIVO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0.57999999999999996</c:v>
                </c:pt>
                <c:pt idx="1">
                  <c:v>0.17499999999999999</c:v>
                </c:pt>
                <c:pt idx="2">
                  <c:v>0.105</c:v>
                </c:pt>
                <c:pt idx="3">
                  <c:v>7.4999999999999997E-2</c:v>
                </c:pt>
                <c:pt idx="4">
                  <c:v>0.05</c:v>
                </c:pt>
                <c:pt idx="5">
                  <c:v>3.5000000000000003E-2</c:v>
                </c:pt>
                <c:pt idx="6">
                  <c:v>0.03</c:v>
                </c:pt>
                <c:pt idx="7">
                  <c:v>2.1999999999999999E-2</c:v>
                </c:pt>
                <c:pt idx="8">
                  <c:v>1.7999999999999999E-2</c:v>
                </c:pt>
                <c:pt idx="9">
                  <c:v>1.2E-2</c:v>
                </c:pt>
                <c:pt idx="10">
                  <c:v>8.0000000000000002E-3</c:v>
                </c:pt>
                <c:pt idx="11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5B-4248-9F25-391DFC06ED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816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E617-5F35-9A0D-6495-A781BC2C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1304D-0D45-F0B8-6358-4881E6425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AF3DF-B9A7-2D94-8DA0-657788609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4A419-5AE9-C6E6-7546-DEC17AC6C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61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212080"/>
            <a:ext cx="502920" cy="1645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4480560"/>
            <a:ext cx="502920" cy="2377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98480" y="3749040"/>
            <a:ext cx="502920" cy="31089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442697" y="1117062"/>
            <a:ext cx="9507243" cy="543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Feature Extraction 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</a:rPr>
              <a:t>and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 Price Prediction for Mobile Phones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27AB05-806E-6839-2B61-A425F6A88402}"/>
              </a:ext>
            </a:extLst>
          </p:cNvPr>
          <p:cNvSpPr txBox="1"/>
          <p:nvPr/>
        </p:nvSpPr>
        <p:spPr>
          <a:xfrm>
            <a:off x="213645" y="461395"/>
            <a:ext cx="2680557" cy="529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600" b="1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r>
              <a:rPr dirty="0"/>
              <a:t>PROJECT 4: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4B6B00-5379-7DBB-6654-48929204C766}"/>
              </a:ext>
            </a:extLst>
          </p:cNvPr>
          <p:cNvSpPr txBox="1"/>
          <p:nvPr/>
        </p:nvSpPr>
        <p:spPr>
          <a:xfrm>
            <a:off x="4960245" y="2622300"/>
            <a:ext cx="6475596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dirty="0">
                <a:solidFill>
                  <a:srgbClr val="00A896"/>
                </a:solidFill>
                <a:latin typeface="Georgia" pitchFamily="34" charset="0"/>
              </a:rPr>
              <a:t>Thakkar</a:t>
            </a:r>
            <a:r>
              <a:rPr sz="1600" b="0" i="0" dirty="0">
                <a:solidFill>
                  <a:srgbClr val="D6DFEA"/>
                </a:solidFill>
                <a:latin typeface="Consolas"/>
              </a:rPr>
              <a:t> </a:t>
            </a:r>
            <a:r>
              <a:rPr sz="2600" b="1" dirty="0">
                <a:solidFill>
                  <a:srgbClr val="00A896"/>
                </a:solidFill>
                <a:latin typeface="Georgia" pitchFamily="34" charset="0"/>
              </a:rPr>
              <a:t>Maulik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DDF79-FFA0-5000-6563-AD315540D044}"/>
              </a:ext>
            </a:extLst>
          </p:cNvPr>
          <p:cNvSpPr txBox="1"/>
          <p:nvPr/>
        </p:nvSpPr>
        <p:spPr>
          <a:xfrm>
            <a:off x="2110812" y="3185670"/>
            <a:ext cx="1033272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600" b="1" dirty="0">
                <a:solidFill>
                  <a:srgbClr val="00A896"/>
                </a:solidFill>
                <a:latin typeface="Georgia" pitchFamily="34" charset="0"/>
              </a:rPr>
              <a:t>Nexthike</a:t>
            </a:r>
            <a:r>
              <a:rPr sz="1600" b="0" i="0" dirty="0">
                <a:solidFill>
                  <a:srgbClr val="D6DFEA"/>
                </a:solidFill>
                <a:latin typeface="Consolas"/>
              </a:rPr>
              <a:t> </a:t>
            </a:r>
            <a:r>
              <a:rPr sz="2600" b="1" dirty="0">
                <a:solidFill>
                  <a:srgbClr val="00A896"/>
                </a:solidFill>
                <a:latin typeface="Georgia" pitchFamily="34" charset="0"/>
              </a:rPr>
              <a:t>IT Solution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1588A-A366-A6A2-B8EF-CA1F42D4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0B772F-FDEC-43C3-2881-16F3D0FB66B2}"/>
              </a:ext>
            </a:extLst>
          </p:cNvPr>
          <p:cNvSpPr/>
          <p:nvPr/>
        </p:nvSpPr>
        <p:spPr>
          <a:xfrm>
            <a:off x="9418320" y="5212080"/>
            <a:ext cx="502920" cy="1645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5696B7-A1E4-2062-E74D-F443A37968D0}"/>
              </a:ext>
            </a:extLst>
          </p:cNvPr>
          <p:cNvSpPr/>
          <p:nvPr/>
        </p:nvSpPr>
        <p:spPr>
          <a:xfrm>
            <a:off x="10058400" y="4480560"/>
            <a:ext cx="502920" cy="2377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8FAEE4-66EC-8C5E-28F2-190112F8AC27}"/>
              </a:ext>
            </a:extLst>
          </p:cNvPr>
          <p:cNvSpPr/>
          <p:nvPr/>
        </p:nvSpPr>
        <p:spPr>
          <a:xfrm>
            <a:off x="10698480" y="3749040"/>
            <a:ext cx="502920" cy="31089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55A277-F7F0-96F3-4008-EAFA7315B93E}"/>
              </a:ext>
            </a:extLst>
          </p:cNvPr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SCIENCE PROJECT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07007D-FFC4-7EC3-0391-8C0C040844AB}"/>
              </a:ext>
            </a:extLst>
          </p:cNvPr>
          <p:cNvSpPr/>
          <p:nvPr/>
        </p:nvSpPr>
        <p:spPr>
          <a:xfrm>
            <a:off x="640080" y="18288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 &amp;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Prediction for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Phones</a:t>
            </a:r>
            <a:endParaRPr lang="en-US" sz="4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96A246-039F-1384-EC1F-CB4DD7B0FA91}"/>
              </a:ext>
            </a:extLst>
          </p:cNvPr>
          <p:cNvSpPr/>
          <p:nvPr/>
        </p:nvSpPr>
        <p:spPr>
          <a:xfrm>
            <a:off x="658368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→ Feature engineering → Modelling → Recommendations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FD283E-8535-CA8A-9443-2D3606E560EF}"/>
              </a:ext>
            </a:extLst>
          </p:cNvPr>
          <p:cNvSpPr/>
          <p:nvPr/>
        </p:nvSpPr>
        <p:spPr>
          <a:xfrm>
            <a:off x="640080" y="5074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531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E068A72-7137-D12A-61C6-F8139FD5FC82}"/>
              </a:ext>
            </a:extLst>
          </p:cNvPr>
          <p:cNvSpPr/>
          <p:nvPr/>
        </p:nvSpPr>
        <p:spPr>
          <a:xfrm>
            <a:off x="640080" y="5650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listings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3593EBB-4E61-B898-389B-E7B6FFD36A40}"/>
              </a:ext>
            </a:extLst>
          </p:cNvPr>
          <p:cNvSpPr/>
          <p:nvPr/>
        </p:nvSpPr>
        <p:spPr>
          <a:xfrm>
            <a:off x="2971800" y="5074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13,999</a:t>
            </a:r>
            <a:endParaRPr lang="en-US" sz="2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5C51AD-F82A-A776-6F8D-772F166CADE7}"/>
              </a:ext>
            </a:extLst>
          </p:cNvPr>
          <p:cNvSpPr/>
          <p:nvPr/>
        </p:nvSpPr>
        <p:spPr>
          <a:xfrm>
            <a:off x="2971800" y="5650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87BBA72-2A69-F95C-E1CA-E98D17AD828E}"/>
              </a:ext>
            </a:extLst>
          </p:cNvPr>
          <p:cNvSpPr/>
          <p:nvPr/>
        </p:nvSpPr>
        <p:spPr>
          <a:xfrm>
            <a:off x="5303520" y="5074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</a:t>
            </a:r>
            <a:endParaRPr lang="en-US" sz="2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74938D-7D33-A7E8-4333-70488876926A}"/>
              </a:ext>
            </a:extLst>
          </p:cNvPr>
          <p:cNvSpPr/>
          <p:nvPr/>
        </p:nvSpPr>
        <p:spPr>
          <a:xfrm>
            <a:off x="5303520" y="5650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R²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D79566D-2BA8-7B50-AC2D-41C464149411}"/>
              </a:ext>
            </a:extLst>
          </p:cNvPr>
          <p:cNvSpPr/>
          <p:nvPr/>
        </p:nvSpPr>
        <p:spPr>
          <a:xfrm>
            <a:off x="7635240" y="5074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1,721</a:t>
            </a:r>
            <a:endParaRPr lang="en-US" sz="2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90D52E4-843D-C523-56AD-D59568F0CB2E}"/>
              </a:ext>
            </a:extLst>
          </p:cNvPr>
          <p:cNvSpPr/>
          <p:nvPr/>
        </p:nvSpPr>
        <p:spPr>
          <a:xfrm>
            <a:off x="7635240" y="5650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 (MAE)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68E7284-0997-6318-ACFE-09BA9DC2703B}"/>
              </a:ext>
            </a:extLst>
          </p:cNvPr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master-level project deliverable  ·  scikit-learn  ·  Python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14839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business questions, one honest answer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</a:t>
            </a: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531 mobile-phone listings</a:t>
            </a:r>
            <a:r>
              <a:rPr lang="en-US" sz="14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find which features drive price and how accurately price can be predicted from a spec sheet. Prices span Rs 920–80,999 (median Rs 13,999) in a strongly right-skewed distribution dominated by budget and mid-range devices.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ranking methods — correlation, mutual information and permutation importance — converge on the same story. A target-leakage trap that would have faked a perfect score was identified and avoided, so every figure reflects deployable performance.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554480"/>
            <a:ext cx="4023360" cy="4572000"/>
          </a:xfrm>
          <a:prstGeom prst="rect">
            <a:avLst/>
          </a:prstGeom>
          <a:solidFill>
            <a:srgbClr val="0B1F2A"/>
          </a:solidFill>
          <a:ln/>
          <a:effectLst>
            <a:outerShdw blurRad="101600" dist="38100" dir="8100000" algn="bl" rotWithShape="0">
              <a:srgbClr val="0B1F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9095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OF PRICE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09560" y="2286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positioning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0392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brands command large, persistent premiums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09560" y="30358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0" y="3035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RAM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03920" y="3310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rises monotonically with each tier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378561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37856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resolution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03920" y="40599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&amp; rear megapixels carry real signal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453542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4535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height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03920" y="4809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Screen-size proxy — a secondary effect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09560" y="528523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03920" y="5285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03920" y="5559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&amp; AI-lens presence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EXPLORATION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clean, right-skewed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model, colour, memory, RAM, battery, rear/front camera, AI-lens flag, height, processor, price. No missing values; exact duplicates removed. Camera text ("50MP") parsed to integers; a Brand feature engineered from each model name.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(raw)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274320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2423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→ near-symmetric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217920" y="274320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transform makes price near-symmetric, favouring tree-based models.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EXPLORATION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price varies enormously by brand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600200"/>
          <a:ext cx="113385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makers (Apple, Google, OnePlus, Nothing) sit far above budget brands — brand is the single largest price lever.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FEATURE EXTRACTION &amp;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specs actually correlate with price?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price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2093976"/>
            <a:ext cx="5120640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05256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2660904"/>
            <a:ext cx="4846320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778240" y="26243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91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Front_MP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3227832"/>
            <a:ext cx="4846320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778240" y="31912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581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Rear_MP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3794760"/>
            <a:ext cx="3749040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80960" y="37581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3251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Height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4361688"/>
            <a:ext cx="1554480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0" y="43251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92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Battery_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4928616"/>
            <a:ext cx="457200" cy="310896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606040" y="4892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5458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77440" y="5495544"/>
            <a:ext cx="1463040" cy="310896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00200" y="54589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2011680"/>
            <a:ext cx="0" cy="4023360"/>
          </a:xfrm>
          <a:prstGeom prst="line">
            <a:avLst/>
          </a:prstGeom>
          <a:noFill/>
          <a:ln w="12700">
            <a:solidFill>
              <a:srgbClr val="D9E4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144000" y="1783080"/>
            <a:ext cx="2514600" cy="4206240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144000" y="1783080"/>
            <a:ext cx="73152" cy="4206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37260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72600" y="2423160"/>
            <a:ext cx="2148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RAM and front-camera</a:t>
            </a: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resolution show the strongest positive signal.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essentially uncorrelated.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AI-lens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mildly negative — a budget-segment proxy, not a premium feature.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 BUILDING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 — physical specs + brand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feature set built for interpretable business insight. 20% held out for testing; confirmed by 5-fold cross-validation.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68580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331720"/>
            <a:ext cx="3886200" cy="23317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B1F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4"/>
          <p:cNvSpPr/>
          <p:nvPr/>
        </p:nvSpPr>
        <p:spPr>
          <a:xfrm>
            <a:off x="804672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(MODEL A)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04672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0.7969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Rs 1,909 · RMSE Rs 4,627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48920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dominate linear and single-tree baselines.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 BUILDING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 — + K-fold target-encoded identity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85800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cross-validated R²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4251960"/>
          <a:ext cx="69494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600200"/>
            <a:ext cx="3886200" cy="4663440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4"/>
          <p:cNvSpPr/>
          <p:nvPr/>
        </p:nvSpPr>
        <p:spPr>
          <a:xfrm>
            <a:off x="7772400" y="1600200"/>
            <a:ext cx="73152" cy="4663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8028432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RESULT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028432" y="22402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 </a:t>
            </a:r>
            <a:r>
              <a:rPr lang="en-US" sz="18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 ± 0.123
</a:t>
            </a:r>
            <a:r>
              <a:rPr lang="en-US" sz="14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 </a:t>
            </a: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 ± 0.133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28432" y="38404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modest standard deviation confirms the model is stable across splits; the wider spread reflects the sparse premium tail.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 BUILDING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 predictions hug the 45° line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65836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251960" cy="4480560"/>
          </a:xfrm>
          <a:prstGeom prst="rect">
            <a:avLst/>
          </a:prstGeom>
          <a:solidFill>
            <a:srgbClr val="0B1F2A"/>
          </a:solidFill>
          <a:ln/>
          <a:effectLst>
            <a:outerShdw blurRad="101600" dist="38100" dir="8100000" algn="bl" rotWithShape="0">
              <a:srgbClr val="0B1F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68096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FIT SHOWS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in the dense range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0" y="275234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track actuals closely across the budget and mid-range, where most listings live.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80960" y="3630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centred on zero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0" y="39593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over- or under-pricing — the model is unbiased through the bulk of the market.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80960" y="48371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tail is harder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0" y="5166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widens above Rs 40,000 where flagship samples are sparse.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FEATURE IMPORTANCE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Permutation importance — the trustworthy measure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real drop in test performance when a feature is shuffled. It confirms the drivers found during feature extraction.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2103120"/>
          <a:ext cx="7498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286000"/>
            <a:ext cx="3520440" cy="3566160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138160" y="2286000"/>
            <a:ext cx="73152" cy="3566160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36676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BY AGREEMENT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66760" y="292608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mutual information and permutation importance all land on the same shortlist — premium-brand flags and core specs dominate.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agreement makes the conclusion robust, not an artefact of any single method.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moves from the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1115568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9842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37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along brand × storage/RAM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2037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axes explain most of the price structure — build the pricing ladder around them.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1115568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0" y="19842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0" y="1984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837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battery &amp; AI-lens as table-stakes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22037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justify higher prices on their 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5394960" cy="1115568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282696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2826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136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brand premium deliberately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5021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budget brands for volume, premium brands for margin.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990088"/>
            <a:ext cx="5394960" cy="1115568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3282696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32826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136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premium data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5021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concentrates above Rs 40,000 where flagship samples are few.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288536"/>
            <a:ext cx="5394960" cy="1115568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1520" y="458114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45811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4434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Gradient Boosting (Model B)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4800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prediction; rely on Model A importances for explanation.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INTEGRITY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leakage trap we refused to fall into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349240" cy="3291840"/>
          </a:xfrm>
          <a:prstGeom prst="rect">
            <a:avLst/>
          </a:prstGeom>
          <a:solidFill>
            <a:srgbClr val="1A2E38"/>
          </a:solidFill>
          <a:ln/>
          <a:effectLst>
            <a:outerShdw blurRad="101600" dist="38100" dir="8100000" algn="bl" rotWithShape="0">
              <a:srgbClr val="0B1F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91440" cy="3291840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Fantasy R² ≈ 0.99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target encoding of the model name leaks each phone's own price into its features, manufacturing a near-perfect score that collapses in deployment.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2606040"/>
            <a:ext cx="5349240" cy="3291840"/>
          </a:xfrm>
          <a:prstGeom prst="rect">
            <a:avLst/>
          </a:prstGeom>
          <a:solidFill>
            <a:srgbClr val="0E3C3A"/>
          </a:solidFill>
          <a:ln/>
          <a:effectLst>
            <a:outerShdw blurRad="101600" dist="38100" dir="8100000" algn="bl" rotWithShape="0">
              <a:srgbClr val="0B1F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91440" cy="3291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2940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R² = 0.83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29400" y="38862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Fold-wise (K-fold) target encoding computes each fold's encoding from the other folds only. Every figure in this report reflects performance that would survive deployment.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ML LIFECYCLE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lifecycle,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40680" cy="585216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04088" y="17007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definition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7007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framing, metrics, constraints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322576"/>
            <a:ext cx="54406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322576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04088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Learning type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63240" y="23774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regression (continuous target)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5440680" cy="585216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4088" y="30540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3–4. Data collection &amp; load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3240" y="30540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load, shape, dtype inspection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54406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3675888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04088" y="37307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EDA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63240" y="37307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bivariate, multivariate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352544"/>
            <a:ext cx="5440680" cy="585216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4352544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04088" y="44074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Cleaning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63240" y="44074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removed, camera strings parsed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54406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04088" y="508406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Preprocessing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3240" y="50840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one-hot, K-fold target encoding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705856"/>
            <a:ext cx="5440680" cy="585216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2920" y="5705856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04088" y="57607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Feature engineering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63240" y="57607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Brand/MP features; RFE, Lasso, PCA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1645920"/>
            <a:ext cx="5440680" cy="585216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217920" y="1645920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19088" y="17007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Train-test split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78240" y="17007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80/20, leakage avoided, scale after split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2322576"/>
            <a:ext cx="54406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217920" y="2322576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19088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Training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778240" y="23774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Tree, RF, GBM, HistGBM, XGBoost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2999232"/>
            <a:ext cx="5440680" cy="585216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217920" y="2999232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19088" y="30540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Evaluation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778240" y="30540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MAE/RMSE/R², CV, overfit &amp; learning curve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3675888"/>
            <a:ext cx="54406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217920" y="3675888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19088" y="37307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Tuning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778240" y="37307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K-fold CV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4352544"/>
            <a:ext cx="5440680" cy="585216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217920" y="4352544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19088" y="44074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13–14. Deploy &amp; predict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778240" y="44074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artifact, FastAPI/Streamlit plan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5029200"/>
            <a:ext cx="544068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217920" y="5029200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419088" y="508406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Monitoring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778240" y="50840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data &amp; concept drift, retrain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217920" y="5705856"/>
            <a:ext cx="5440680" cy="585216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217920" y="5705856"/>
            <a:ext cx="64008" cy="5852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419088" y="57607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Docs &amp; versioning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778240" y="57607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report, Git, MLflow/DVC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 — Project Report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384048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760720"/>
            <a:ext cx="384048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05840" y="5394960"/>
            <a:ext cx="384048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73736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233172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and core specs explain price —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model proves it honestly.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55648" y="3931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(Model B) · CV R² 0.83 ± 0.13 · MAE ≈ Rs 1,721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55648" y="49377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  </a:t>
            </a:r>
            <a:r>
              <a:rPr lang="en-US" sz="13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Jupyter notebook (full pipeline with code &amp; visualisations)  ·  this report deck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55648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F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·  Python  ·  531 listings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1238</Words>
  <Application>Microsoft Office PowerPoint</Application>
  <PresentationFormat>Widescreen</PresentationFormat>
  <Paragraphs>241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Phone Price Prediction</dc:title>
  <dc:subject>PptxGenJS Presentation</dc:subject>
  <dc:creator>Data Science Team</dc:creator>
  <cp:lastModifiedBy>admin</cp:lastModifiedBy>
  <cp:revision>3</cp:revision>
  <dcterms:created xsi:type="dcterms:W3CDTF">2026-06-02T11:27:07Z</dcterms:created>
  <dcterms:modified xsi:type="dcterms:W3CDTF">2026-06-02T11:46:31Z</dcterms:modified>
</cp:coreProperties>
</file>